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8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BBEEC4-92D0-643A-5643-2097EED3FB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3CD4A9-11D3-85D6-0935-23AE112541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7710CB-7F6A-C092-3BBE-80FA8387D6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34D1A-16F6-4A3A-AF94-F12AFEE1D0D6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13EB76-41D2-886F-5A12-D572D00628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939DA5-9B9B-0AEC-02C5-9D2FF91031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299B0-1AE8-4903-BBE5-186FD43389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21732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10776-B103-8464-E9F1-C4B28D4072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E0ED56-1DCA-5339-C8F9-20D8463F0F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318A29-6888-9D6A-735E-69DFED8A13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34D1A-16F6-4A3A-AF94-F12AFEE1D0D6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A4793A-321D-6772-5DC9-E2F6578323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C73B86-5BE9-8903-81C5-8190B042CE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299B0-1AE8-4903-BBE5-186FD43389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50409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A2CC3-6EA1-47F4-ADBD-514467736B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E88820-D509-714A-C804-8CA85428FC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D1A3A4-5CA3-39E0-773E-A314B4FF52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34D1A-16F6-4A3A-AF94-F12AFEE1D0D6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C05614-83AF-AA38-4169-BD86EAB24D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47666B-9C55-3DBE-2801-845A306A6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299B0-1AE8-4903-BBE5-186FD43389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87883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CCC7CC-5181-F317-2A6A-DF5C465E4B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C0CBA3-86EE-DE86-EB37-19A6C42879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DC669D-3EB8-3D80-4B8F-7257C59E00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873EF8-A13C-1F66-0FC8-C821CEDFDB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34D1A-16F6-4A3A-AF94-F12AFEE1D0D6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FD99EE-51F6-0652-FD14-F952D6453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36FB4D-F5A2-FD5E-810A-5ADE59D5AC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299B0-1AE8-4903-BBE5-186FD43389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69540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826E1C-6207-2990-EEA1-ABFEFE0007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6CEFFA-4D38-B3A9-B186-BD6DC723BA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B9D7A7-0DE4-5CC9-0A3A-84C21EDC7D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B67FE8-A6A6-3F91-3425-0F4154D442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F622C94-7FBC-F760-297F-A4FDD50F50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CF2FD64-77F0-3BF5-9858-BF04BEC66E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34D1A-16F6-4A3A-AF94-F12AFEE1D0D6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4FCE98-F506-13BD-3DCC-1BD6B04263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C01DF48-CC75-2C60-7FA0-B544028032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299B0-1AE8-4903-BBE5-186FD43389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57848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7F6CFD-8472-4D32-84C5-0FAAF6741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728101E-BCD3-AE09-B022-A6F6BB3AB5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34D1A-16F6-4A3A-AF94-F12AFEE1D0D6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E37E19-397B-ED7C-AEA3-51E8BEBFF7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64679D-2B16-8B86-0FAE-78E61CA4AD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299B0-1AE8-4903-BBE5-186FD43389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34958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DE21C33-8C7F-3530-3E04-F1C3F19304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34D1A-16F6-4A3A-AF94-F12AFEE1D0D6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7351CD6-2EA5-74F7-E51B-7A2437245E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65D852-EB45-7BC0-7F57-8C946EB87E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299B0-1AE8-4903-BBE5-186FD43389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16185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767C7B-44B0-B4E2-9F5B-105EB89DAB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49B3BC-324F-3CCF-F87B-3E8E70CD98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B93DFF-71DA-71A2-23AB-D3F932F00A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8A10A7-6C47-E654-EF3B-43288F15E0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34D1A-16F6-4A3A-AF94-F12AFEE1D0D6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25AC5F-222E-94A5-DBCA-23795E28F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571BF6-881C-23A7-A510-FE248064BA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299B0-1AE8-4903-BBE5-186FD43389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89146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F3299A-3797-6B18-9674-542FB2EC0D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BE132F-0D83-37E9-77F6-4CBF58480D3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781067-3F96-21D3-1D96-8D7D19F767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BF457B-DBC9-B999-0574-7444AB3FCB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34D1A-16F6-4A3A-AF94-F12AFEE1D0D6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B82D19-5A55-F9BC-0596-A476B76E92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C84EDE-25B8-1D4C-54FB-773F9EDF9A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299B0-1AE8-4903-BBE5-186FD43389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73504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AE1703-FC87-6D95-10B4-F7E9EFFDE7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508C52-420B-8DDA-CA95-972F8FFD74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248A44-F438-61FF-2824-AE6C3D1152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34D1A-16F6-4A3A-AF94-F12AFEE1D0D6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F4916D-E5D7-D82A-9BD8-5B8F7CD7D4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82C040-AAD7-480E-F991-C19BEE2154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299B0-1AE8-4903-BBE5-186FD43389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8431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5D57500-51CF-AEDA-AB73-FFCD9CF9794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D30D10-F0EB-3DDA-D8AA-C30E40CCFF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5A794-AE8F-C03D-B0A5-C34E795E6B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34D1A-16F6-4A3A-AF94-F12AFEE1D0D6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4741D5-733A-C0D8-D18F-BD81F44E64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4346FA-3ABA-025C-24E8-58F859FE21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299B0-1AE8-4903-BBE5-186FD43389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96754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8DCB69E-3175-7FC4-D986-241408645A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AD3F5E-9D68-3716-6BF2-0A2FE7FF7E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DE1E7D-9F65-6CCA-AF6E-FF5903E130F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E34D1A-16F6-4A3A-AF94-F12AFEE1D0D6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7EC03B-38C9-8278-D2D0-DDC2EF2930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207750-F5E6-FD58-050E-78438F8121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A299B0-1AE8-4903-BBE5-186FD43389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73777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373838-4230-D521-0C59-956985C558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8442" y="547437"/>
            <a:ext cx="11893216" cy="1834816"/>
          </a:xfrm>
        </p:spPr>
        <p:txBody>
          <a:bodyPr>
            <a:noAutofit/>
          </a:bodyPr>
          <a:lstStyle/>
          <a:p>
            <a:r>
              <a:rPr lang="en-IN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Semantic Caching for Large Language Model Applications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6A9F78-97FD-EEDF-9538-E3C7323BD4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52673" y="3545974"/>
            <a:ext cx="6292516" cy="3327400"/>
          </a:xfrm>
        </p:spPr>
        <p:txBody>
          <a:bodyPr>
            <a:noAutofit/>
          </a:bodyPr>
          <a:lstStyle/>
          <a:p>
            <a:pPr algn="l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MAHESHKUMAR V</a:t>
            </a:r>
          </a:p>
          <a:p>
            <a:pPr algn="l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25MCM022</a:t>
            </a:r>
          </a:p>
          <a:p>
            <a:pPr algn="l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II – MSc COMPUTER SCIENCE</a:t>
            </a:r>
          </a:p>
          <a:p>
            <a:pPr algn="l"/>
            <a:r>
              <a:rPr lang="sv-SE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Mrs. T. Kousiga(Project Guide)</a:t>
            </a:r>
          </a:p>
          <a:p>
            <a:pPr algn="l"/>
            <a:r>
              <a:rPr lang="sv-SE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Assistant Professor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</a:t>
            </a:r>
          </a:p>
          <a:p>
            <a:pPr algn="l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PSG COLLEGE OF ARTS &amp; SCIENCE</a:t>
            </a:r>
          </a:p>
        </p:txBody>
      </p:sp>
    </p:spTree>
    <p:extLst>
      <p:ext uri="{BB962C8B-B14F-4D97-AF65-F5344CB8AC3E}">
        <p14:creationId xmlns:p14="http://schemas.microsoft.com/office/powerpoint/2010/main" val="5581401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CA024D-1913-4413-F55B-1860C4C29D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349250"/>
            <a:ext cx="11220450" cy="30035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Identification :</a:t>
            </a: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LLM applications frequently receive repeated or semantically similar queries.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query triggers a new LLM call, increasing latency and operational cost.</a:t>
            </a: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systems lack an intelligent mechanism to reuse previous responses.</a:t>
            </a:r>
            <a:endParaRPr lang="en-IN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7C126E0-6DAB-BC18-029A-9DD96E797A23}"/>
              </a:ext>
            </a:extLst>
          </p:cNvPr>
          <p:cNvSpPr txBox="1">
            <a:spLocks/>
          </p:cNvSpPr>
          <p:nvPr/>
        </p:nvSpPr>
        <p:spPr>
          <a:xfrm>
            <a:off x="457200" y="3505201"/>
            <a:ext cx="11220450" cy="32321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Formulation :</a:t>
            </a: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can repeated LLM requests be identified and reused efficiently?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can response time and API costs be reduced without affecting answer quality?</a:t>
            </a: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can cache performance be monitored and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analyzed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6240131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065F43-403E-7382-3944-ED3E14A872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310802-0FF9-05F5-4DDA-2E91894315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349250"/>
            <a:ext cx="11220450" cy="30035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Sentence Transformers for semantic embedding generation.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FAISS for vector similarity search and cache retrieval.</a:t>
            </a: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and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implementation and analytics dashboard.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047FF5E-741D-D7A3-F5A9-67A37C3D21F6}"/>
              </a:ext>
            </a:extLst>
          </p:cNvPr>
          <p:cNvSpPr txBox="1">
            <a:spLocks/>
          </p:cNvSpPr>
          <p:nvPr/>
        </p:nvSpPr>
        <p:spPr>
          <a:xfrm>
            <a:off x="457200" y="3505201"/>
            <a:ext cx="11220450" cy="32321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Formulation :</a:t>
            </a: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 user queries into embeddings.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 embeddings with cached queries using FAISS.</a:t>
            </a: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 cached responses for similar queries; otherwise invoke the LLM.</a:t>
            </a:r>
          </a:p>
        </p:txBody>
      </p:sp>
    </p:spTree>
    <p:extLst>
      <p:ext uri="{BB962C8B-B14F-4D97-AF65-F5344CB8AC3E}">
        <p14:creationId xmlns:p14="http://schemas.microsoft.com/office/powerpoint/2010/main" val="4901900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1CF07A-7A90-3320-AFFC-150C7EE824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DCCB20-9217-6846-95AC-20D276D66E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349250"/>
            <a:ext cx="11220450" cy="30035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These Technologies:</a:t>
            </a: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Sentence Transformers capture semantic meaning beyond keyword matching.</a:t>
            </a: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FAISS enables fast and scalable similarity search.</a:t>
            </a: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provides simple visualization of cache performance metrics.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1FDBB88-0DED-81FB-3B64-0C2719D2972C}"/>
              </a:ext>
            </a:extLst>
          </p:cNvPr>
          <p:cNvSpPr txBox="1">
            <a:spLocks/>
          </p:cNvSpPr>
          <p:nvPr/>
        </p:nvSpPr>
        <p:spPr>
          <a:xfrm>
            <a:off x="457200" y="3505201"/>
            <a:ext cx="11220450" cy="32321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Suitability:</a:t>
            </a: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semantic understanding of user queries.</a:t>
            </a: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redundant LLM invocations.</a:t>
            </a: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measurable performance insights.</a:t>
            </a:r>
          </a:p>
        </p:txBody>
      </p:sp>
    </p:spTree>
    <p:extLst>
      <p:ext uri="{BB962C8B-B14F-4D97-AF65-F5344CB8AC3E}">
        <p14:creationId xmlns:p14="http://schemas.microsoft.com/office/powerpoint/2010/main" val="25939899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B608B2-6CFC-BBDF-83D1-775CF562BF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412365-43FB-6F61-C6A7-DFD96CC5FF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349250"/>
            <a:ext cx="11220450" cy="30035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Approaches:</a:t>
            </a: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keyword-based caching systems.</a:t>
            </a: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Exact query matching techniques.</a:t>
            </a: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Standard RAG systems without semantic caching.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C5B474A-BD0C-3AA2-AEDC-B6B1D43198D6}"/>
              </a:ext>
            </a:extLst>
          </p:cNvPr>
          <p:cNvSpPr txBox="1">
            <a:spLocks/>
          </p:cNvSpPr>
          <p:nvPr/>
        </p:nvSpPr>
        <p:spPr>
          <a:xfrm>
            <a:off x="457200" y="3505201"/>
            <a:ext cx="11220450" cy="32321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Findings from Previous Work:</a:t>
            </a: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Exact matching fails for paraphrased queries.</a:t>
            </a: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caches provide low cache hit rates.</a:t>
            </a: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RAG systems improve accuracy but increase computational cost.</a:t>
            </a:r>
          </a:p>
        </p:txBody>
      </p:sp>
    </p:spTree>
    <p:extLst>
      <p:ext uri="{BB962C8B-B14F-4D97-AF65-F5344CB8AC3E}">
        <p14:creationId xmlns:p14="http://schemas.microsoft.com/office/powerpoint/2010/main" val="33673348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ACB7CF-647F-6D80-A3AC-7554953D8D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F80FEC-A5DC-C3A2-0600-0F06316A6F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349250"/>
            <a:ext cx="11220450" cy="30035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Techniques vs Proposed Technique:</a:t>
            </a: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Exact matching requires identical queries.</a:t>
            </a: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Semantic caching identifies meaning-based similarities.</a:t>
            </a: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approach improves cache utilization and response speed.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9634E79-5971-82BB-577A-BAA17038808A}"/>
              </a:ext>
            </a:extLst>
          </p:cNvPr>
          <p:cNvSpPr txBox="1">
            <a:spLocks/>
          </p:cNvSpPr>
          <p:nvPr/>
        </p:nvSpPr>
        <p:spPr>
          <a:xfrm>
            <a:off x="457200" y="3505201"/>
            <a:ext cx="11220450" cy="32321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 of Existing Systems:</a:t>
            </a: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Poor handling of paraphrased questions.</a:t>
            </a: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 API usage and operational costs.</a:t>
            </a: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cache performance monitoring.</a:t>
            </a:r>
          </a:p>
        </p:txBody>
      </p:sp>
    </p:spTree>
    <p:extLst>
      <p:ext uri="{BB962C8B-B14F-4D97-AF65-F5344CB8AC3E}">
        <p14:creationId xmlns:p14="http://schemas.microsoft.com/office/powerpoint/2010/main" val="28893783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1798AA-6FE7-E5D7-242B-6594B13652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1D0A8D-986F-3AA0-6841-3483110A7A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349250"/>
            <a:ext cx="11220450" cy="30035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Gap:</a:t>
            </a: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caching methods focus mainly on exact query matching.</a:t>
            </a: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support for semantic similarity in LLM applications.</a:t>
            </a: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Few systems provide analytics on cache effectiveness.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AC0AFBB-4F3D-198E-9386-2BAA2BDF3E27}"/>
              </a:ext>
            </a:extLst>
          </p:cNvPr>
          <p:cNvSpPr txBox="1">
            <a:spLocks/>
          </p:cNvSpPr>
          <p:nvPr/>
        </p:nvSpPr>
        <p:spPr>
          <a:xfrm>
            <a:off x="457200" y="3505201"/>
            <a:ext cx="11220450" cy="32321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Refined Problem Statement:</a:t>
            </a: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semantic caching framework that identifies similar queries and reuses responses efficiently.</a:t>
            </a: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 cache performance through an analytics dashboard.</a:t>
            </a:r>
          </a:p>
        </p:txBody>
      </p:sp>
    </p:spTree>
    <p:extLst>
      <p:ext uri="{BB962C8B-B14F-4D97-AF65-F5344CB8AC3E}">
        <p14:creationId xmlns:p14="http://schemas.microsoft.com/office/powerpoint/2010/main" val="21862110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2CF468-0101-782D-E79D-4C4A6C9178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8D01F0-9A58-3BB9-3A8C-76ECC10276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349250"/>
            <a:ext cx="11220450" cy="30035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Solution:</a:t>
            </a: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a semantic cache layer between users and LLM applications.</a:t>
            </a: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 query embeddings and generated responses.</a:t>
            </a: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Retrieve responses using similarity-based matching.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29C2516-BFB5-4ADF-1BFF-BAB44CBCBD0C}"/>
              </a:ext>
            </a:extLst>
          </p:cNvPr>
          <p:cNvSpPr txBox="1">
            <a:spLocks/>
          </p:cNvSpPr>
          <p:nvPr/>
        </p:nvSpPr>
        <p:spPr>
          <a:xfrm>
            <a:off x="457200" y="3505201"/>
            <a:ext cx="11220450" cy="32321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Workflow:</a:t>
            </a: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Query → Embedding Generation</a:t>
            </a: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FAISS Similarity Search → Cache Hit/Miss Decision</a:t>
            </a: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Cached Response or LLM Response → Dashboard Update</a:t>
            </a:r>
          </a:p>
        </p:txBody>
      </p:sp>
    </p:spTree>
    <p:extLst>
      <p:ext uri="{BB962C8B-B14F-4D97-AF65-F5344CB8AC3E}">
        <p14:creationId xmlns:p14="http://schemas.microsoft.com/office/powerpoint/2010/main" val="35680813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934E7C-287B-7EFE-DE89-C873497939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CF065E-B4A1-C004-43BB-D29C77780E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349250"/>
            <a:ext cx="11220450" cy="30035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Outcomes:</a:t>
            </a: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Reduced response latency.</a:t>
            </a: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Reduced LLM API calls and operational costs.</a:t>
            </a: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scalability of LLM applications.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781DDC7-5911-04B8-7D02-FCC3804D1712}"/>
              </a:ext>
            </a:extLst>
          </p:cNvPr>
          <p:cNvSpPr txBox="1">
            <a:spLocks/>
          </p:cNvSpPr>
          <p:nvPr/>
        </p:nvSpPr>
        <p:spPr>
          <a:xfrm>
            <a:off x="457200" y="3505201"/>
            <a:ext cx="11220450" cy="32321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b="1" u="sng" dirty="0"/>
              <a:t>Impact</a:t>
            </a:r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 user experience.</a:t>
            </a: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 resource utilization.</a:t>
            </a: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monitoring through performance analytics.</a:t>
            </a:r>
          </a:p>
        </p:txBody>
      </p:sp>
    </p:spTree>
    <p:extLst>
      <p:ext uri="{BB962C8B-B14F-4D97-AF65-F5344CB8AC3E}">
        <p14:creationId xmlns:p14="http://schemas.microsoft.com/office/powerpoint/2010/main" val="33399464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AA4B39-4DBB-8FD4-2BBC-72576C00E9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E987FF-D449-7B4E-2129-1FF2DEB540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349250"/>
            <a:ext cx="11220450" cy="30035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Summary:</a:t>
            </a: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Semantic caching addresses repeated-query inefficiencies in LLM applications.</a:t>
            </a: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framework combines semantic search and intelligent response reuse.</a:t>
            </a: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Analytics dashboard provides measurable performance evaluation.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A89416D-7EFF-2B18-69C6-6F026C5BD44B}"/>
              </a:ext>
            </a:extLst>
          </p:cNvPr>
          <p:cNvSpPr txBox="1">
            <a:spLocks/>
          </p:cNvSpPr>
          <p:nvPr/>
        </p:nvSpPr>
        <p:spPr>
          <a:xfrm>
            <a:off x="457200" y="3505201"/>
            <a:ext cx="11220450" cy="32321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Contribution:</a:t>
            </a: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efficiency without modifying the underlying LLM.</a:t>
            </a: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Enhances scalability and cost optimization.</a:t>
            </a: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Applicable to multiple LLM-powered applications.</a:t>
            </a:r>
          </a:p>
        </p:txBody>
      </p:sp>
    </p:spTree>
    <p:extLst>
      <p:ext uri="{BB962C8B-B14F-4D97-AF65-F5344CB8AC3E}">
        <p14:creationId xmlns:p14="http://schemas.microsoft.com/office/powerpoint/2010/main" val="23013228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AE7F3A-F448-DD0E-CE52-D597993DBC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8850" y="1914525"/>
            <a:ext cx="10515600" cy="2409825"/>
          </a:xfrm>
        </p:spPr>
        <p:txBody>
          <a:bodyPr>
            <a:normAutofit/>
          </a:bodyPr>
          <a:lstStyle/>
          <a:p>
            <a:pPr algn="ctr"/>
            <a:r>
              <a:rPr lang="en-IN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4610352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518</Words>
  <Application>Microsoft Office PowerPoint</Application>
  <PresentationFormat>Widescreen</PresentationFormat>
  <Paragraphs>80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Calibri Light</vt:lpstr>
      <vt:lpstr>Times New Roman</vt:lpstr>
      <vt:lpstr>Wingdings</vt:lpstr>
      <vt:lpstr>Office Theme</vt:lpstr>
      <vt:lpstr>Semantic Caching for Large Language Model Applications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maheshpsg007@gmail.com</dc:creator>
  <cp:lastModifiedBy>maheshpsg007@gmail.com</cp:lastModifiedBy>
  <cp:revision>2</cp:revision>
  <dcterms:created xsi:type="dcterms:W3CDTF">2026-06-21T13:00:55Z</dcterms:created>
  <dcterms:modified xsi:type="dcterms:W3CDTF">2026-06-22T01:35:39Z</dcterms:modified>
</cp:coreProperties>
</file>